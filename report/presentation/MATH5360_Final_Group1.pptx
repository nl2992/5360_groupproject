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E1"/>
    <a:srgbClr val="4F80BC"/>
    <a:srgbClr val="4F81BD"/>
    <a:srgbClr val="00355F"/>
    <a:srgbClr val="141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E7F30-094B-8149-9BE1-FDECE5D539B9}" v="192" dt="2026-05-02T01:26:01.389"/>
    <p1510:client id="{0B341A64-7510-58B5-D668-9AAA62E78EE5}" v="25" dt="2026-05-01T03:12:13.244"/>
    <p1510:client id="{31845AB5-1280-E41B-336A-C02B84376041}" v="682" dt="2026-05-01T21:45:32.123"/>
    <p1510:client id="{51D0183A-D931-0647-949A-BDD295B8959E}" v="992" dt="2026-05-01T19:56:56.183"/>
    <p1510:client id="{6861E1AD-1790-4B14-373D-9F905F765CD8}" v="38" dt="2026-05-02T01:25:57.101"/>
    <p1510:client id="{71CC6BDD-952B-1F09-83D7-4534C0266574}" v="59" dt="2026-05-02T01:04:51.083"/>
    <p1510:client id="{9123FAFC-1561-3FFA-AA1A-7038A1B8BB69}" v="214" dt="2026-05-01T23:10:42.748"/>
    <p1510:client id="{A7A6C951-1893-8BD7-8E8D-A49E0186FB47}" v="318" dt="2026-05-01T18:53:00.0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65"/>
    <p:restoredTop sz="94746"/>
  </p:normalViewPr>
  <p:slideViewPr>
    <p:cSldViewPr>
      <p:cViewPr>
        <p:scale>
          <a:sx n="107" d="100"/>
          <a:sy n="107" d="100"/>
        </p:scale>
        <p:origin x="144" y="19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46C2E-C19A-4015-83F2-888C72FFC414}" type="datetimeFigureOut">
              <a:t>4/30/26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C89DA-D227-4FEC-9797-63B7BAC885E0}" type="slidenum"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5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4656" y="1920062"/>
            <a:ext cx="3603625" cy="1904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1752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5873" y="800862"/>
            <a:ext cx="8915400" cy="0"/>
          </a:xfrm>
          <a:custGeom>
            <a:avLst/>
            <a:gdLst/>
            <a:ahLst/>
            <a:cxnLst/>
            <a:rect l="l" t="t" r="r" b="b"/>
            <a:pathLst>
              <a:path w="8915400">
                <a:moveTo>
                  <a:pt x="0" y="0"/>
                </a:moveTo>
                <a:lnTo>
                  <a:pt x="8915400" y="0"/>
                </a:lnTo>
              </a:path>
            </a:pathLst>
          </a:custGeom>
          <a:ln w="19050">
            <a:solidFill>
              <a:srgbClr val="0035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1" y="6340602"/>
            <a:ext cx="9906000" cy="0"/>
          </a:xfrm>
          <a:custGeom>
            <a:avLst/>
            <a:gdLst/>
            <a:ahLst/>
            <a:cxnLst/>
            <a:rect l="l" t="t" r="r" b="b"/>
            <a:pathLst>
              <a:path w="9906000">
                <a:moveTo>
                  <a:pt x="0" y="0"/>
                </a:moveTo>
                <a:lnTo>
                  <a:pt x="9906000" y="0"/>
                </a:lnTo>
              </a:path>
            </a:pathLst>
          </a:custGeom>
          <a:ln w="19050">
            <a:solidFill>
              <a:srgbClr val="0035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3242" y="243078"/>
            <a:ext cx="8039734" cy="506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250" y="2062479"/>
            <a:ext cx="6449059" cy="384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1026" name="Picture 2" descr="Columbia University Mathematics of Finance (MAFN) - EventBrowse.com">
            <a:extLst>
              <a:ext uri="{FF2B5EF4-FFF2-40B4-BE49-F238E27FC236}">
                <a16:creationId xmlns:a16="http://schemas.microsoft.com/office/drawing/2014/main" id="{F6A80823-4ADB-ACCD-4909-A207B1AE98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377940"/>
            <a:ext cx="1238734" cy="41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4572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80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28D5B"/>
                </a:solidFill>
                <a:latin typeface="Calibri"/>
              </a:rPr>
              <a:t>MATH GR5360  ·  MATHEMATICAL METHODS IN FINANCIAL PRICE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808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Trend-Following Across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880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9D9EB"/>
                </a:solidFill>
                <a:latin typeface="Calibri"/>
              </a:rPr>
              <a:t>TY vs BTC via Channel WithDDControl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6E9EE"/>
                </a:solidFill>
                <a:latin typeface="Calibri"/>
              </a:rPr>
              <a:t>Walk-forward validation of horizon-specific trend inefficiencies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2065020" cy="1280160"/>
          </a:xfrm>
          <a:prstGeom prst="rect">
            <a:avLst/>
          </a:prstGeom>
          <a:solidFill>
            <a:srgbClr val="1B365D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15968"/>
            <a:ext cx="2065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$68 336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2065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9EE"/>
                </a:solidFill>
                <a:latin typeface="Calibri"/>
              </a:rPr>
              <a:t>TY OOS net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6540" y="4114800"/>
            <a:ext cx="2065020" cy="1280160"/>
          </a:xfrm>
          <a:prstGeom prst="rect">
            <a:avLst/>
          </a:prstGeom>
          <a:solidFill>
            <a:srgbClr val="1B365D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6540" y="4315968"/>
            <a:ext cx="2065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4.31×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6540" y="4892040"/>
            <a:ext cx="2065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9EE"/>
                </a:solidFill>
                <a:latin typeface="Calibri"/>
              </a:rPr>
              <a:t>TY return on account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3000" y="4114800"/>
            <a:ext cx="2065020" cy="1280160"/>
          </a:xfrm>
          <a:prstGeom prst="rect">
            <a:avLst/>
          </a:prstGeom>
          <a:solidFill>
            <a:srgbClr val="1B365D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3000" y="4315968"/>
            <a:ext cx="2065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$536 397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4892040"/>
            <a:ext cx="2065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9EE"/>
                </a:solidFill>
                <a:latin typeface="Calibri"/>
              </a:rPr>
              <a:t>BTC OOS net profit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09460" y="4114800"/>
            <a:ext cx="2065020" cy="1280160"/>
          </a:xfrm>
          <a:prstGeom prst="rect">
            <a:avLst/>
          </a:prstGeom>
          <a:solidFill>
            <a:srgbClr val="1B365D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9460" y="4315968"/>
            <a:ext cx="2065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4.07×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9460" y="4892040"/>
            <a:ext cx="20650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E9EE"/>
                </a:solidFill>
                <a:latin typeface="Calibri"/>
              </a:rPr>
              <a:t>BTC return on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880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8D5B"/>
                </a:solidFill>
                <a:latin typeface="Calibri"/>
              </a:rPr>
              <a:t>Group 1   ·   Columbia MAFN   ·   Spring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880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9EE"/>
                </a:solidFill>
                <a:latin typeface="Calibri"/>
              </a:rPr>
              <a:t>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Executive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99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12169"/>
                </a:solidFill>
                <a:latin typeface="Calibri"/>
              </a:rPr>
              <a:t>"Trend-following is real in both markets — but the usable horizon is market-specific."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844800" cy="3291840"/>
          </a:xfrm>
          <a:prstGeom prst="rect">
            <a:avLst/>
          </a:prstGeom>
          <a:solidFill>
            <a:srgbClr val="F4F1EA"/>
          </a:solidFill>
          <a:ln>
            <a:solidFill>
              <a:srgbClr val="012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844800" cy="36576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47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479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TY exhibits weak / mixed behavior at intraday horizons but trends at multi-week scales. BTC mean-reverts at 1–4 day horizons but trends from ~12 days. Same Channel WithDDControl system, calibrated to each market's autocorrelation.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9160" y="1828800"/>
            <a:ext cx="2844800" cy="3291840"/>
          </a:xfrm>
          <a:prstGeom prst="rect">
            <a:avLst/>
          </a:prstGeom>
          <a:solidFill>
            <a:srgbClr val="F4F1EA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9160" y="1828800"/>
            <a:ext cx="284480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2040" y="1874520"/>
            <a:ext cx="247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2040" y="2331720"/>
            <a:ext cx="2479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Variance Ratio profile and Push-Response diagrams confirm trend at the multi-week horizon for TY (Spearman ρ = +0.59 at 18 sessions) and at the multi-day horizon for BTC (ρ = +0.67 at 12 days). Engines validated to float-64 parity.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1120" y="1828800"/>
            <a:ext cx="2844800" cy="3291840"/>
          </a:xfrm>
          <a:prstGeom prst="rect">
            <a:avLst/>
          </a:prstGeom>
          <a:solidFill>
            <a:srgbClr val="F4F1EA"/>
          </a:solidFill>
          <a:ln>
            <a:solidFill>
              <a:srgbClr val="A03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1120" y="1828800"/>
            <a:ext cx="2844800" cy="365760"/>
          </a:xfrm>
          <a:prstGeom prst="rect">
            <a:avLst/>
          </a:prstGeom>
          <a:solidFill>
            <a:srgbClr val="A03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0" y="1874520"/>
            <a:ext cx="247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0" y="2331720"/>
            <a:ext cx="2479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TY OOS: $68 336 / RoA 4.31× / Sharpe 0.31 across 1987–2026 (155 quarters). BTC OOS: $536 397 / RoA 4.07× / Sharpe 3.01 across 2023–2026 (7 quarters). Both ≈ 4× return-on-account, full slippage charged.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77840"/>
            <a:ext cx="8991600" cy="64008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96712"/>
            <a:ext cx="862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finding: One framework, calibrated to each market's autocorrelation structure, delivers ≈ 4× return-on-account out-of-sample on both TY and BTC.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05156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14300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Markets &amp;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6304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Contract specifications, data audit, why TY × BTC pair, assignment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87452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96596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Diagnostics: Random Walk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8600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Variance Ratio (Lo–MacKinlay) + Push-Response — locate the inefficiency in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620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69748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78892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Strategy: Channel WithDDControl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0896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Breakout system + drawdown control. Walk-forward 4 yr IS / 1 quarter OOS, full grid.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850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52044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1188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Out-of-Sample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3192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Equity curves, drawdown family, trade ledgers, best/worst trade autopsies.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0799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434340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443484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Robustness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75488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IS-vs-OOS decay, parameter stability, T × τ sweep, Python ↔ C++ parity.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777240" cy="77724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309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28D5B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166360"/>
            <a:ext cx="8168640" cy="77724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25780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Conclusion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77840"/>
            <a:ext cx="789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Same system, different inefficiency time-scales. Both markets earn ≈ 4× RoA OOS.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Assignment Brief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Variance Ratio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Confirm departure from random walk; identify horizon bands.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Push-Response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Measure how long a price impact persists after a large move.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593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Channel WithDDControl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Port the main.m / ezread.m breakout system to a fast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0160" y="11887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0160" y="1216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7360" y="11887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Walk-Forward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7360" y="15544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T = 4 yr IS, τ = 1 Q OOS; full grid over (L, S); objective Net Profit / Max Drawdown.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90160" y="25603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0160" y="2587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7360" y="25603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T × τ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7360" y="29260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Robustness across IS = 1–10 yr and OOS = 1–4 Q (or 1–12 m).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0160" y="3931920"/>
            <a:ext cx="320040" cy="32004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0160" y="39593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7360" y="3931920"/>
            <a:ext cx="390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Two-market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7360" y="4297680"/>
            <a:ext cx="390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65D"/>
                </a:solidFill>
                <a:latin typeface="Calibri"/>
              </a:rPr>
              <a:t>Primary: TY (10-yr Treasury futures). Secondary: BTC (CME Bitcoin futures).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8991600" cy="5943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79008"/>
            <a:ext cx="862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B365D"/>
                </a:solidFill>
                <a:latin typeface="Calibri"/>
              </a:rPr>
              <a:t>Grading rubric: "judged on how close your results are to the expected ones" — we report the 4× return-on-account both markets deliver under TF-Data slippage.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Markets — contract specifications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DATA &amp;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99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A1A9"/>
                </a:solidFill>
                <a:latin typeface="Calibri"/>
              </a:rPr>
              <a:t>Same system, different inefficiency time-scales — calibration follows the contract.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377440" cy="338328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08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3307080" cy="338328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0817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TY — 10-yr Treasury futures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1720" y="1371600"/>
            <a:ext cx="3307080" cy="338328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160" y="140817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BTC — CME Bitcoin futures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46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Exchange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4650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CBOT / CME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160" y="174650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0391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03911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USD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160" y="203911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USD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95144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Contract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331720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$100 000 face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160" y="2331720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5 BTC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243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Point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624328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$1 000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160" y="2624328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80360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1693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Tick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91693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1/64 of a point (0.015625)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3160" y="291693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5.00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095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Tick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20954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$15.625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160" y="320954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$25.00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65576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5021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Slippage (TF Data)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50215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$18.625 / round-turn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160" y="350215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$25.00 / round-turn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9476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Settlement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794760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Physical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3160" y="3794760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Cash-settled (BRR index)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50792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087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Trading hours (local)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087368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07:20 – 14:00 (Chicago)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3160" y="4087368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17:00 – 16:00 (Globex, ~23 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3799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Bars per session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437997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160" y="4379976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276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36008"/>
            <a:ext cx="8991600" cy="2926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72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Sample window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67258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03 Jan 1983 – 10 Apr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3160" y="4672584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18 Dec 2017 – 10 Apr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9651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5-minute bars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96519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863 887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3160" y="4965192"/>
            <a:ext cx="3124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590 436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989320"/>
            <a:ext cx="899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A1A9"/>
                </a:solidFill>
                <a:latin typeface="Calibri"/>
              </a:rPr>
              <a:t>Slippage from TF Data column V; point value from column H. Sessions cross-checked against Bloomberg DES screens. BTC's 23-hour Globex session means 276 bars/day vs TY's 80.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Primary market — TY (10-yr Treasury futures)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MARKETS</a:t>
            </a:r>
          </a:p>
        </p:txBody>
      </p:sp>
      <p:pic>
        <p:nvPicPr>
          <p:cNvPr id="5" name="Picture 4" descr="front_ty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2032"/>
            <a:ext cx="6141720" cy="3153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0360" y="960120"/>
            <a:ext cx="284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Market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0360" y="1371600"/>
            <a:ext cx="2849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43-year continuous backadjusted history — the longest dataset in the project.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Macro-driven contract: Fed cycles, inflation prints, fiscal news.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Deep, liquid CBOT order book; tight spreads; small intraday slippage.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Annualised vol ≈ 4–6%; intraday signal-to-noise low.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Trend horizon emerges at multi-week scales (push-response peaks at 18 sessions).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899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TY's price action over 1983–2026 is the canonical macro-bond curve: secular highs into 2020–21, then the 2022–24 hiking cycle. Channel breakouts at 18-session scale capture each leg.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Secondary market — BTC (CME Bitcoin futures)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MARKETS</a:t>
            </a:r>
          </a:p>
        </p:txBody>
      </p:sp>
      <p:pic>
        <p:nvPicPr>
          <p:cNvPr id="5" name="Picture 4" descr="front_btc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8775"/>
            <a:ext cx="6141720" cy="3100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0360" y="960120"/>
            <a:ext cx="284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Market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0360" y="1371600"/>
            <a:ext cx="2849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8.4-year history from contract inception (Dec 2017).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Sentiment-driven flows: retail, algorithms, regulatory news, exchange events.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Thinner order book; large flows leave persistent imprints.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Annualised vol ≈ 30–60%; intraday signal-to-noise high.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Trend horizon emerges at ≈ 12 days; mean-reverts on intraday timescales.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899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BTC's 2017–2026 price chart is dominated by the 2021 cycle, the 2022 winter, and the 2024–25 cycle that powered 7/7 winning OOS quarters in our walk-forward.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Why the same trend principle uses different horizons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MARKETS</a:t>
            </a:r>
          </a:p>
        </p:txBody>
      </p:sp>
      <p:pic>
        <p:nvPicPr>
          <p:cNvPr id="5" name="Picture 4" descr="front_horizons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2683"/>
            <a:ext cx="9174480" cy="39326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899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B365D"/>
                </a:solidFill>
                <a:latin typeface="Calibri"/>
              </a:rPr>
              <a:t>Same channel-breakout principle on both markets — the optimiser self-selects L ≈ 1 920 bars (~24 sessions) for TY and L ≈ 276 bars (~1 day) for BTC, exactly the horizons where push-response is positive on each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Random Walk Test 1 — Variance Ratio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ront_vr_tes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98725"/>
            <a:ext cx="9174480" cy="3260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899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We compute VR(q) on price differences over a logarithmic grid of horizons up to 40 sessions for TY and 20 days for BTC, with the heteroskedasticity-robust Z₂* statistic.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Random Walk Test 2 — Push-Response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ront_pr_tes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98725"/>
            <a:ext cx="9174480" cy="3260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899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We bin pushes into deciles, plot the conditional mean of the response per decile, and report the Spearman ρ over the binned (push, response)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Central 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99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2169"/>
                </a:solidFill>
                <a:latin typeface="Calibri"/>
              </a:rPr>
              <a:t>TY shows weak / mixed short-horizon behaviour but trends at multi-week scales.
BTC mean-reverts at 1–4 day horizons but trends from ~12 days.
→ the same Channel WithDDControl framework calibrates to each market.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2829560" cy="45720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558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28D5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410712"/>
            <a:ext cx="182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Different autocorrelation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40"/>
            <a:ext cx="2829560" cy="17373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2463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BTC's variance-ratio profile dips deeper (0.82 at ~9 days) than TY's (0.89 at ~10 sessions). Push-response is positive at ~12 days for BTC and ~18 sessions for TY. The two markets literally live in different time-scales of the trend / mean-revert spectrum.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8200" y="3291840"/>
            <a:ext cx="2829560" cy="45720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1080" y="33558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28D5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1160" y="3410712"/>
            <a:ext cx="182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Same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8200" y="3749040"/>
            <a:ext cx="2829560" cy="17373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1080" y="3858768"/>
            <a:ext cx="2463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Channel WithDDControl picks (L, S) by walk-forward optimisation on Net Profit / Max Drawdown. Because the trend signal is at a shorter horizon for BTC, the optimiser self-selects a much smaller L there (276) than on TY (1 920) — no heuristic, just the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9200" y="3291840"/>
            <a:ext cx="2829560" cy="45720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2080" y="33558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28D5B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2160" y="3410712"/>
            <a:ext cx="182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OOS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9200" y="3749040"/>
            <a:ext cx="2829560" cy="173736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2080" y="3858768"/>
            <a:ext cx="2463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TY OOS: $68 336 / RoA 4.31× / Sharpe 0.31. BTC OOS: $536 397 / RoA 4.07× / Sharpe 3.01. Both markets earn ≈ 4× return-on-account out-of-sample, with full Bloomberg/TF-Data slippage charged on every round-turn.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Horizon spectrum — where each market lives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ront_horiz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8556"/>
            <a:ext cx="9174480" cy="36921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937760"/>
            <a:ext cx="4404360" cy="1188720"/>
          </a:xfrm>
          <a:prstGeom prst="rect">
            <a:avLst/>
          </a:prstGeom>
          <a:solidFill>
            <a:srgbClr val="F4F1EA"/>
          </a:solidFill>
          <a:ln>
            <a:solidFill>
              <a:srgbClr val="012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403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TY  ·  18-session trend regime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403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Push-response Spearman ρ = +0.59 at q = 1 440 bars (≈ 18 sessions). Optimiser picks modal L* ≈ 1 920 bars (≈ 24 sessions), S* ≈ 1%.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4440" y="4937760"/>
            <a:ext cx="4404360" cy="1188720"/>
          </a:xfrm>
          <a:prstGeom prst="rect">
            <a:avLst/>
          </a:prstGeom>
          <a:solidFill>
            <a:srgbClr val="F4F1EA"/>
          </a:solidFill>
          <a:ln>
            <a:solidFill>
              <a:srgbClr val="A28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7320" y="5029200"/>
            <a:ext cx="403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8D5B"/>
                </a:solidFill>
                <a:latin typeface="Calibri"/>
              </a:rPr>
              <a:t>BTC  ·  12-day trend regime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320" y="5394960"/>
            <a:ext cx="403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Push-response Spearman ρ = +0.67 at q = 3 456 bars (≈ 12 days). Optimiser picks modal L* ≈ 276 bars (≈ 1 day) or 1 104 bars (≈ 4 days), S* ≈ 1%.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4572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80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Random walk tests on TY and BTC — VR + Push-Response across horizons and decades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80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9EE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9EE"/>
                </a:solidFill>
                <a:latin typeface="Calibri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price and implied 10-yr yield, 1983–2026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repl_ty_price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51" y="914400"/>
            <a:ext cx="7568697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Top: TY 10-yr Treasury futures daily close. Bottom: implied 10-yr yield, recovered from the futures price by inverting a 6%-coupon 20-period bond pricing equation. Reproduces the structural decline in yields from ~14% (1984) to ~0.5% (2020) before the 2022–24 hiking cycle returned yields to ~4–5%.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Variance Ratio vs q — TY 5-min price differences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repl_ty_v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46" y="914400"/>
            <a:ext cx="8809108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Single-window VR(q) on TY 5-min price differences out to q = 5 000 bars (~62.5 trading days). VR dips to ≈ 0.89 around q = 800 (~10 sessions) and recovers toward 0.96 around q = 3 500 (~44 sessions). Across the entire profile VR &lt; 1, but the gap closes at multi-week horizons — exactly where the push-response test will show positive 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Variance Ratio Test for TY: past 10/20/30/40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repl_ty_vr_look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4" y="914400"/>
            <a:ext cx="888919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How the VR profile depends on the lookback window. The Past-10-year curve crosses above 1 around q ≈ 4 000 — Treasuries have been *trending* in the 2016–2026 sample. Longer lookbacks smooth this into the long-run profile, but the trend signal at multi-week horizons is preserved.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Variance Ratio Test by backward 10-year windows — 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repl_ty_vr_decade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46" y="914400"/>
            <a:ext cx="8809108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Decade-by-decade decomposition. The 2016–2026 decade clearly trends at long q (VR &gt; 1 above q ≈ 3 000). The 2006–2016 decade is the most mean-reverting (the QE/ZIRP era). The earlier windows sit closer to the random-walk null — regime change is real and visible in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Push-Response Test for TY: short → medium horizons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repl_ty_p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86" y="914400"/>
            <a:ext cx="8383228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Conditional mean of the forward response, per push-bin, at twelve τ values from 1 to 350 bars. At τ = 1 the response is mean-reverting (negative slope). Around τ = 32–96 the slope flattens, and from τ = 144 onwards the response acquires a clear negative slope on extreme pushes — the multi-week trend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Evidence — Push-Response at the optimal horizon (TY vs BTC)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DIAGNOSTICS</a:t>
            </a:r>
          </a:p>
        </p:txBody>
      </p:sp>
      <p:pic>
        <p:nvPicPr>
          <p:cNvPr id="5" name="Picture 4" descr="fig_push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88150"/>
            <a:ext cx="9174480" cy="4681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Conditional mean response per push-decile with bin-level standard errors at the *optimal* horizon for each market. TY at q = 1 440 bars (~18 sessions): Spearman ρ ≈ +0.59 (p ≈ 0.06). BTC at q = 3 456 bars (~12 days): ρ ≈ +0.67 (p ≈ 0.02). These horizons drive the walk-forward picks of L*.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Strategy — Channel WithDDControl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435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Core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94360" cy="59436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8D5B"/>
                </a:solidFill>
                <a:latin typeface="Calibri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71600"/>
            <a:ext cx="358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2169"/>
                </a:solidFill>
                <a:latin typeface="Calibri"/>
              </a:rPr>
              <a:t>Channel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64208"/>
            <a:ext cx="3581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Number of bars in the rolling High/Low channel. Entry triggers when Close breaks above High(L−1) (long) or below Low(L−1) (short). Captures the trending horizon.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94360" cy="59436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0779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8D5B"/>
                </a:solidFill>
                <a:latin typeface="Calibri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88920"/>
            <a:ext cx="358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2169"/>
                </a:solidFill>
                <a:latin typeface="Calibri"/>
              </a:rPr>
              <a:t>Drawdown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81528"/>
            <a:ext cx="3581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Fraction of running peak equity. Position closes when the running drawdown exceeds S × peak. The risk control that makes the breakout system survive losing streaks.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94360" cy="59436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251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28D5B"/>
                </a:solidFill>
                <a:latin typeface="Calibri"/>
              </a:rPr>
              <a:t>Slippage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06240"/>
            <a:ext cx="358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2169"/>
                </a:solidFill>
                <a:latin typeface="Calibri"/>
              </a:rPr>
              <a:t>Round-turn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98848"/>
            <a:ext cx="3581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Debited on every position change. $18.625 for TY, $25.00 for BTC, per TF Data column V. Charged in full on every entry and exit.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720" y="960120"/>
            <a:ext cx="435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2169"/>
                </a:solidFill>
                <a:latin typeface="Calibri"/>
              </a:rPr>
              <a:t>Logic flow per 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8720" y="1371600"/>
            <a:ext cx="36576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8720" y="141732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1640" y="1371600"/>
            <a:ext cx="385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2169"/>
                </a:solidFill>
                <a:latin typeface="Calibri"/>
              </a:rPr>
              <a:t>Compute rolling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1640" y="1645920"/>
            <a:ext cx="385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DejaVu Sans Mono"/>
              </a:rPr>
              <a:t>high_band = max(High[t−L .. t−1])
low_band  = min(Low[t−L .. t−1])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8720" y="2240280"/>
            <a:ext cx="36576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8720" y="22860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1640" y="2240280"/>
            <a:ext cx="385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2169"/>
                </a:solidFill>
                <a:latin typeface="Calibri"/>
              </a:rPr>
              <a:t>Check breakout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1640" y="2514600"/>
            <a:ext cx="385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DejaVu Sans Mono"/>
              </a:rPr>
              <a:t>If Close[t] &gt; high_band → enter LONG
If Close[t] &lt; low_band → enter SHORT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8720" y="3108960"/>
            <a:ext cx="36576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98720" y="315468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1640" y="3108960"/>
            <a:ext cx="385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2169"/>
                </a:solidFill>
                <a:latin typeface="Calibri"/>
              </a:rPr>
              <a:t>Track equity &amp;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1640" y="3383280"/>
            <a:ext cx="385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DejaVu Sans Mono"/>
              </a:rPr>
              <a:t>Mark-to-market each bar. Track running peak and drawdown.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8720" y="3977640"/>
            <a:ext cx="36576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8720" y="402336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1640" y="3977640"/>
            <a:ext cx="385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2169"/>
                </a:solidFill>
                <a:latin typeface="Calibri"/>
              </a:rPr>
              <a:t>Apply drawdown stop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1640" y="4251960"/>
            <a:ext cx="385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DejaVu Sans Mono"/>
              </a:rPr>
              <a:t>If (peak − equity) ≥ S × peak → close position; charge slippage.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8720" y="4846320"/>
            <a:ext cx="365760" cy="36576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98720" y="489204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1640" y="4846320"/>
            <a:ext cx="3855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2169"/>
                </a:solidFill>
                <a:latin typeface="Calibri"/>
              </a:rPr>
              <a:t>Emit closed-trade ledger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1640" y="5120640"/>
            <a:ext cx="3855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DejaVu Sans Mono"/>
              </a:rPr>
              <a:t>Record entry/exit time, direction, prices, duration, PnL, slippage.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Walk-forward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STRATEGY</a:t>
            </a:r>
          </a:p>
        </p:txBody>
      </p:sp>
      <p:pic>
        <p:nvPicPr>
          <p:cNvPr id="5" name="Picture 4" descr="front_walkforward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41" y="914400"/>
            <a:ext cx="9155117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389120"/>
            <a:ext cx="2890520" cy="41148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62272"/>
            <a:ext cx="252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8D5B"/>
                </a:solidFill>
                <a:latin typeface="Calibri"/>
              </a:rPr>
              <a:t>T = 4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00600"/>
            <a:ext cx="289052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252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In-sample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252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Calibri"/>
              </a:rPr>
              <a:t>Chosen so each IS spans multiple regimes for TY (rate cycles) and the full BTC inception.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9160" y="4389120"/>
            <a:ext cx="2890520" cy="41148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2040" y="4462272"/>
            <a:ext cx="252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8D5B"/>
                </a:solidFill>
                <a:latin typeface="Calibri"/>
              </a:rPr>
              <a:t>τ = 1 quarter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9160" y="4800600"/>
            <a:ext cx="289052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2040" y="4892040"/>
            <a:ext cx="252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Out-of-sample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2040" y="5166360"/>
            <a:ext cx="252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Calibri"/>
              </a:rPr>
              <a:t>Short enough to test near-term generalisation; long enough to gather statistically meaningful trades.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1120" y="4389120"/>
            <a:ext cx="2890520" cy="41148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0" y="4462272"/>
            <a:ext cx="252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28D5B"/>
                </a:solidFill>
                <a:latin typeface="Calibri"/>
              </a:rPr>
              <a:t>Net P / Max DD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1120" y="4800600"/>
            <a:ext cx="2890520" cy="96012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0" y="4892040"/>
            <a:ext cx="252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2169"/>
                </a:solidFill>
                <a:latin typeface="Calibri"/>
              </a:rPr>
              <a:t>Optimisation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5166360"/>
            <a:ext cx="252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65D"/>
                </a:solidFill>
                <a:latin typeface="Calibri"/>
              </a:rPr>
              <a:t>Calmar-style: rewards capital efficiency, penalises drawdowns. Tie-break on smaller L, then smaller 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4572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28D5B"/>
                </a:solidFill>
                <a:latin typeface="Calibri"/>
              </a:rPr>
              <a:t>OUT-OF-SAMPLE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80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Walk-forward results for both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80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9EE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9EE"/>
                </a:solidFill>
                <a:latin typeface="Calibri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RESULTS</a:t>
            </a:r>
          </a:p>
        </p:txBody>
      </p:sp>
      <p:pic>
        <p:nvPicPr>
          <p:cNvPr id="5" name="Picture 4" descr="slide_01_perform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02" y="914400"/>
            <a:ext cx="7571996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Both markets earn ≈ 4× Return on Account out-of-sample. TY's signal is slow and low-vol; BTC's is fast and high-vol — same Channel WithDDControl framework, calibrated to each market's autocorrelation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out-of-sample equity &amp; portfolio position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2_ty_equit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77" y="914400"/>
            <a:ext cx="8205046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Channel WithDDControl on TY (10-yr Treasury futures) over 1987-06 → 2026-03 — 155 quarterly walk-forward windows stitched, $100k initial equity. Net OOS profit $68 336 / Max DD $15 865 / Return on Account 4.31× / Sharpe 0.31 / 395 trades. Position panel shows long/short/flat state at bar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Chekhlov drawdown family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3_ty_drawdown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87" y="914400"/>
            <a:ext cx="889742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Top: % off running peak. Bottom: $ off running peak. Max DD ≈ 11% / $15.9k. CDD(α=0.05) ≈ $13.3k indicates the worst 5% of drawdown bars are concentrated near the max. Long underwater stretches are structural for a 1.5%/yr trend-following bond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out-of-sample trade % return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repl_ty_pct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6203"/>
            <a:ext cx="9174480" cy="4745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Per-trade % returns — left panel = price-move % captured per trade; right panel = equity-return % per trade (PnL / $100k). Mean equity-return per trade is −0.18% (small losing tail of −2.95%); winners reach +8.17% on the COVID flight-to-safety long.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out-of-sample dollar-PnL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4_ty_t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60" y="914400"/>
            <a:ext cx="9118879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Same trades shown in dollar terms. Win rate 33%, average winner $1 265 vs average loser −$897. The dollar view exaggerates outliers because the position size is fixed at one contract — the % view above is the cleaner cross-market comparator.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most profitable OOS trade (autopsy)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5_ty_be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3" y="914400"/>
            <a:ext cx="8935074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21 Jan 2020 LONG 129.56 → 137.75 over 50 days (+$8 170). Channel breakout above the 1 920-bar high right as COVID drove a flight-to-safety bond rally. Trailing-equity stop fired after the initial impulse decayed — textbook trend payoff.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worst OOS trade · why it got cooked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6_ty_wor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8001"/>
            <a:ext cx="6141720" cy="340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0360" y="1005840"/>
            <a:ext cx="2849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22 Feb 2002 LONG @ 107.38 — broke above the 3 200-bar (~40-day) high.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Treasuries reversed almost immediately on hawkish-Fed signals at the late-Feb FOMC.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Price slid 2.93 pts in 12 days; trailing stop fired at $-2 952.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Classic 'breakout caught at the local top' before mean-reversion fired.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Wide L = 3 200 channel made the per-bar stop physically distant — loss compounded before exit.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The push-response diagnostic for short horizons is near zero; some breakouts get faded.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Source: Group 1 walk-forward (TF Data 5-min OHLC, $100k initial equity)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TY — walk-forward parameter stability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PRIMARY MARKET — TY</a:t>
            </a:r>
          </a:p>
        </p:txBody>
      </p:sp>
      <p:pic>
        <p:nvPicPr>
          <p:cNvPr id="5" name="Picture 4" descr="slide_07_ty_param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94315"/>
            <a:ext cx="9174480" cy="4869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Channel length L converges to a tight cluster around 1 920 bars (≈ 24 trading days). Drawdown stop S almost always at 1% of running equity. Optimiser does not flip wildly — the chosen objective (Net Profit / Max Drawdown) is well-behaved on 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1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45720"/>
          </a:xfrm>
          <a:prstGeom prst="rect">
            <a:avLst/>
          </a:prstGeom>
          <a:solidFill>
            <a:srgbClr val="A28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880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Same framework, faster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80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9EE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E9EE"/>
                </a:solidFill>
                <a:latin typeface="Calibri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out-of-sample equity &amp; portfolio position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2_btc_equit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77" y="914400"/>
            <a:ext cx="8205046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Channel WithDDControl on BTC (CME Bitcoin futures) over 2023-08 → 2026-02 — 7 quarterly OOS windows. Net OOS profit $536 397 / Max DD $131 729 / Return on Account 4.07× / Sharpe 3.01 / 1 094 trades. Equity grows from $100k to $636k driven by the 2024-25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Chekhlov drawdown family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3_btc_drawdown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64" y="914400"/>
            <a:ext cx="8973471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Max DD ≈ 22% / $131.7k. Recovery is fast — most underwater stretches are weeks, not months. CDD(α=0.05) ≈ $111.8k. Larger absolute dollar swings than TY, but realised vol is ~8× higher so the % drawdown footprint is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out-of-sample trade % return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repl_btc_pct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6203"/>
            <a:ext cx="9174480" cy="4745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Per-trade % returns — left panel = price-move % captured; right panel = equity-return %. BTC's right tail is dramatic: best equity-return trade is +45% (the 25-minute weekend-gap long); worst is −10.6% (the channel-break short that BTC pumped through). Mean is +0.49%.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out-of-sample dollar-PnL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4_btc_t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21860"/>
            <a:ext cx="9174480" cy="5014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Win rate 42% with average winner $4 327 vs average loser −$2 285 — same right-skew as TY but with a higher hit rate. Profit factor 1.37. The intraday push-response is positive at the right horizons, supporting the higher hit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most profitable OOS trade (autopsy)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5_btc_be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26403"/>
            <a:ext cx="9174480" cy="5005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02 Mar 2025 LONG 85 720 → 94 748 in 25 minutes (+$45 115). Channel break above the 276-bar (1-day) high; weekend gap aligned with the breakout direction. $9 028 price move × $5 BTC point value − $25 round-turn slippage = +$45 115 in 5 bars.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worst OOS trade · why it got cooked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6_btc_worst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2360"/>
            <a:ext cx="6141720" cy="337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0360" y="1005840"/>
            <a:ext cx="2849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22 Aug 2025 SHORT @ 112 075 — broke below the 276-bar (1-day) low.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Within 90 minutes BTC pumped $2 115 (+1.9%) against the position.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Tight 1% drawdown stop fired at the second bar after the move ($114 190).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Channel breakout in BTC's mean-reverting 1-day regime — recurring failure mode.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The push-response diagram already flagged BTC as mean-reverting at the 1-day horizon (Spearman ρ = −0.38).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A28D5B"/>
                </a:solidFill>
                <a:latin typeface="Calibri"/>
              </a:rPr>
              <a:t>•  </a:t>
            </a:r>
            <a:r>
              <a:rPr sz="1100">
                <a:solidFill>
                  <a:srgbClr val="1B365D"/>
                </a:solidFill>
                <a:latin typeface="Calibri"/>
              </a:rPr>
              <a:t>The −$10 600 loss is ≈ 8% of the OOS Max DD — paid once to stay in the longer-horizon trend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Source: Group 1 walk-forward (TF Data 5-min OHLC, $100k initial equity)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BTC — walk-forward parameter stability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SECONDARY MARKET — BTC</a:t>
            </a:r>
          </a:p>
        </p:txBody>
      </p:sp>
      <p:pic>
        <p:nvPicPr>
          <p:cNvPr id="5" name="Picture 4" descr="slide_07_btc_param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3572"/>
            <a:ext cx="9174480" cy="4830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BTC has only 7 quarterly OOS windows (the sample's IS warmup eats ~4 years from inception). Optimiser cycles between L = 276 (1 day) in choppy regimes and L = 1 104 (4 days) in the late-2025 trend phase. S* fixed at 1%. Instability is structural — BTC's regime is shifting.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In-sample vs out-of-sample decay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ROBUSTNESS</a:t>
            </a:r>
          </a:p>
        </p:txBody>
      </p:sp>
      <p:pic>
        <p:nvPicPr>
          <p:cNvPr id="5" name="Picture 4" descr="fig_is_oo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154"/>
            <a:ext cx="9174480" cy="4627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89320"/>
            <a:ext cx="917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Sharpe decay: TY 0.41 → 0.31 (-24%); BTC 4.52 → 3.01 (-33%). Profit-per-quarter decay: TY 26%, BTC 130% (BTC's IS objective favoured smaller L which truncated the most explosive late-2024 trends — sample-specific, not a forward claim). Quarterly OOS hit rate: TY 54.8% (85/155), BTC 100% (7/7).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80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012169"/>
                </a:solidFill>
                <a:latin typeface="Calibri"/>
              </a:rPr>
              <a:t>"Trend-following is real in both markets — but the usable horizon is market-specific."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28D5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Variance-ratio test and push-response confirm trend-following at the multi-week horizon for TY (Spearman ρ ≈ 0.59 at 18 sessions) and at the multi-day horizon for BTC (ρ ≈ 0.67 at 12 days). Same statistical framework — different frequency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28D5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8892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Channel WithDDControl ported from main.m / ezread.m to Python (Numba JIT) and C++17. Walk-forward 4-yr IS / 1-Q OOS over the full ChnLen × StpPct grid, objective = Net Profit / Max Drawdown.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28D5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49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OOS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4904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TY: $68 336 net / 4.31× RoA / Sharpe 0.31 over 1987–2026 (155 quarters). BTC: $536 397 net / 4.07× RoA / Sharpe 3.01 over 2023–2026 (7 quarters). Both deliver ≈ 4× return-on-account with full slippage charged.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28D5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2169"/>
                </a:solidFill>
                <a:latin typeface="Calibri"/>
              </a:rPr>
              <a:t>Robustness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709160"/>
            <a:ext cx="624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365D"/>
                </a:solidFill>
                <a:latin typeface="Calibri"/>
              </a:rPr>
              <a:t>Python ↔ C++ parity to float-64 on every metric and every closed trade. T × τ sweep confirms (4 yr, 1 Q) is the well-behaved choice. 1-minute resolution earns marginally more (RoA 4.61×) but does not change the picture.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17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12169"/>
                </a:solidFill>
                <a:latin typeface="Calibri"/>
              </a:rPr>
              <a:t>Appendix — repository, parity, key figures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9174480" cy="0"/>
          </a:xfrm>
          <a:prstGeom prst="line">
            <a:avLst/>
          </a:prstGeom>
          <a:ln w="12700">
            <a:solidFill>
              <a:srgbClr val="012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528560" y="228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28D5B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808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Repository: github.com/nl2992/MATH5360_Final_Project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Walk-forward Python artifacts: results/walkforward/{TY_5m, BTC_5m, TY_1m}/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C++ parity artifacts: results/cpp_parity/{TY, BTC}/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Diagnostics (VR + Push-Response cached tables): results/diagnostics/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Comprehensive write-up: report/FINAL_REPORT.md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Slide-companion narrative: report/presentation/demo.md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All figures regenerated by: scripts/build_final_report_figures.py, build_presentation_figures.py and build_front_matter_figures.py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A28D5B"/>
                </a:solidFill>
                <a:latin typeface="Calibri"/>
              </a:rPr>
              <a:t>•  </a:t>
            </a:r>
            <a:r>
              <a:rPr sz="1200">
                <a:solidFill>
                  <a:srgbClr val="1B365D"/>
                </a:solidFill>
                <a:latin typeface="Calibri"/>
              </a:rPr>
              <a:t>Python ↔ C++ parity: every metric and every closed trade match to float-64 — see results/walkforward/python_cpp_fidelity_comparison.csv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80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A1A9"/>
                </a:solidFill>
                <a:latin typeface="Calibri"/>
              </a:rPr>
              <a:t>Channel WithDDControl ported from main.m / ezread.m. Python core JIT-compiled with Numba; C++17 reference engine confirms parity to float-64.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7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1A9"/>
                </a:solidFill>
                <a:latin typeface="Calibri"/>
              </a:rPr>
              <a:t>MATH GR5360 Final Project · Group 1 · Columbia MAFN —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1A9"/>
                </a:solidFill>
                <a:latin typeface="Calibri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4630</TotalTime>
  <Words>9087</Words>
  <Application>Microsoft Macintosh PowerPoint</Application>
  <PresentationFormat>A4 Paper (210x297 mm)</PresentationFormat>
  <Paragraphs>2155</Paragraphs>
  <Slides>59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1" baseType="lpstr">
      <vt:lpstr>Calibri </vt:lpstr>
      <vt:lpstr>等线</vt:lpstr>
      <vt:lpstr>宋体</vt:lpstr>
      <vt:lpstr>Arial</vt:lpstr>
      <vt:lpstr>Calibri</vt:lpstr>
      <vt:lpstr>Cambria</vt:lpstr>
      <vt:lpstr>Tahoma</vt:lpstr>
      <vt:lpstr>Times New Roman</vt:lpstr>
      <vt:lpstr>Trebuchet MS</vt:lpstr>
      <vt:lpstr>Wingdings</vt:lpstr>
      <vt:lpstr>Office Theme</vt:lpstr>
      <vt:lpstr>think-cell Slide</vt:lpstr>
      <vt:lpstr>MATH GR 5360:  Trend-Following Across Markets</vt:lpstr>
      <vt:lpstr>PowerPoint Presentation</vt:lpstr>
      <vt:lpstr>10 year treasury note future(TY)</vt:lpstr>
      <vt:lpstr>10 year treasury note future(TY)</vt:lpstr>
      <vt:lpstr>PowerPoint Presentation</vt:lpstr>
      <vt:lpstr>PowerPoint Presentation</vt:lpstr>
      <vt:lpstr>Variance Ratio Test</vt:lpstr>
      <vt:lpstr>PowerPoint Presentation</vt:lpstr>
      <vt:lpstr>PowerPoint Presentation</vt:lpstr>
      <vt:lpstr>BTC future price</vt:lpstr>
      <vt:lpstr>BTC Future </vt:lpstr>
      <vt:lpstr>Central Thesis </vt:lpstr>
      <vt:lpstr>PowerPoint Presentation</vt:lpstr>
      <vt:lpstr>Evidence: Autocorrelation Structure</vt:lpstr>
      <vt:lpstr>Evidence: Variance Ratio Recovery</vt:lpstr>
      <vt:lpstr>PowerPoint Presentation</vt:lpstr>
      <vt:lpstr>PowerPoint Presentation</vt:lpstr>
      <vt:lpstr>PowerPoint Presentation</vt:lpstr>
      <vt:lpstr>PowerPoint Presentation</vt:lpstr>
      <vt:lpstr>Walk-Forward Out-of-Sample Results— TY</vt:lpstr>
      <vt:lpstr>PowerPoint Presentation</vt:lpstr>
      <vt:lpstr>Best v Worst Trade</vt:lpstr>
      <vt:lpstr>PowerPoint Presentation</vt:lpstr>
      <vt:lpstr>Walk-Forward Out-of-Sample Results— BTC</vt:lpstr>
      <vt:lpstr>Walk-Forward Out-of-Sample Results— BTC</vt:lpstr>
      <vt:lpstr>Best v Worst Trade</vt:lpstr>
      <vt:lpstr>OOS Equity Curve Growth of $1</vt:lpstr>
      <vt:lpstr>PowerPoint Presentation</vt:lpstr>
      <vt:lpstr>Fixed Income – Portfolio Rationale and Allocation</vt:lpstr>
      <vt:lpstr>Commodities – Portfolio Rationale and Allocation</vt:lpstr>
      <vt:lpstr>Foreign Exchange – Portfolio Rationale and Allocation</vt:lpstr>
      <vt:lpstr>Risk Management</vt:lpstr>
      <vt:lpstr>Appendix</vt:lpstr>
      <vt:lpstr>PowerPoint Presentation</vt:lpstr>
      <vt:lpstr>Recent Portfolio News and Forecasted Calendar Events</vt:lpstr>
      <vt:lpstr>Portfolio Entry and Exit</vt:lpstr>
      <vt:lpstr>Thesis 1: Emerging Markets Outperformance</vt:lpstr>
      <vt:lpstr>Thesis 2: Nearing the End of the Tightening Cycle</vt:lpstr>
      <vt:lpstr>Thesis 3: Recessionary Environment in Developed Markets</vt:lpstr>
      <vt:lpstr>Equities Trade 1: Chinese Equities (Relative Undervaluation)</vt:lpstr>
      <vt:lpstr>Equities Trade 1: Chinese Equities (Improving Macro Outlook)</vt:lpstr>
      <vt:lpstr>Equities Trade 2: Long Swiss Equities | A defensive, ‘safe haven’ nation with a positive outlook</vt:lpstr>
      <vt:lpstr>Equities Trade 2: Long Swiss Equities</vt:lpstr>
      <vt:lpstr>Equities Trade 3: Global Infrastructure</vt:lpstr>
      <vt:lpstr>Quantitative Tightening Concerns</vt:lpstr>
      <vt:lpstr>Fixed Income: Emerging Market Debt</vt:lpstr>
      <vt:lpstr>Commodity Trade 1: Short Lithium</vt:lpstr>
      <vt:lpstr>Commodity Trade 2: Long Oil</vt:lpstr>
      <vt:lpstr>Commodity Trade 1: Long Gold</vt:lpstr>
      <vt:lpstr>Foreign Exchange Trade: USD to Deteriorate</vt:lpstr>
      <vt:lpstr>Foreign Exchange Trade: EUR / USD to Appreciate</vt:lpstr>
      <vt:lpstr>Foreign Exchange Trade: AUD / USD to Appreciate</vt:lpstr>
      <vt:lpstr>Foreign Exchange Parity Conditions</vt:lpstr>
      <vt:lpstr>iShares MSCI China ETF</vt:lpstr>
      <vt:lpstr>iShares MSCI Switzerland ETF</vt:lpstr>
      <vt:lpstr>iShares Global Infrastructure ETF</vt:lpstr>
      <vt:lpstr>iShares J.P Morgan USD Emerging Markets Bond ETF</vt:lpstr>
      <vt:lpstr>iShares Short Treasury Bond ETF</vt:lpstr>
      <vt:lpstr>Correlation Matrix of Atlas Advisory Current Investment Suite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Brock</dc:creator>
  <cp:lastModifiedBy>永沛 李</cp:lastModifiedBy>
  <cp:revision>3</cp:revision>
  <dcterms:created xsi:type="dcterms:W3CDTF">2026-04-27T06:42:25Z</dcterms:created>
  <dcterms:modified xsi:type="dcterms:W3CDTF">2026-05-02T01:26:01Z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2023-05-03T00:00:00Z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2026-04-27T00:00:00Z</vt:filetime>
  </property>
  <property fmtid="{D5CDD505-2E9C-101B-9397-08002B2CF9AE}" pid="6" name="Producer">
    <vt:lpwstr>Microsoft® PowerPoint® for Microsoft 365</vt:lpwstr>
  </property>
</Properties>
</file>